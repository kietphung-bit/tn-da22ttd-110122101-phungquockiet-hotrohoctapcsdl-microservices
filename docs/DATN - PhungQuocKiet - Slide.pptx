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7" r:id="rId10"/>
    <p:sldId id="268" r:id="rId11"/>
    <p:sldId id="269" r:id="rId12"/>
    <p:sldId id="270" r:id="rId13"/>
    <p:sldId id="263" r:id="rId14"/>
    <p:sldId id="264" r:id="rId15"/>
    <p:sldId id="266" r:id="rId16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5C1C09-C6C4-FDC3-E2FA-FF11719BF0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00182-E4CF-366C-9F82-420999542E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D47F4-D698-4435-9752-31E4A28744A0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E8794-7118-5040-B322-BD847E0D0C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D1427-88A7-7850-640E-0BC6B97511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41BB6-2198-46FC-86FC-92E8E2423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775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89C6-F58B-3538-1EDF-5B9D3104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0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ADF44-4BD4-71A3-D087-215893274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D0276-B4E7-BDE8-91A0-B7C5076C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AA4DF-9553-DD2C-73D2-59E323F1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D56D5-EA33-6E5A-7832-293F8828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  <p:pic>
        <p:nvPicPr>
          <p:cNvPr id="7" name="Picture 2" descr="PAM Air và Đại học Trà Vinh - PAM Air">
            <a:extLst>
              <a:ext uri="{FF2B5EF4-FFF2-40B4-BE49-F238E27FC236}">
                <a16:creationId xmlns:a16="http://schemas.microsoft.com/office/drawing/2014/main" id="{6A66DB31-5A41-6F6F-7C50-A8AF70C6A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102"/>
            <a:ext cx="924560" cy="92456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32DD1-61E1-A9DA-1C57-F4384C36C3DD}"/>
              </a:ext>
            </a:extLst>
          </p:cNvPr>
          <p:cNvCxnSpPr>
            <a:cxnSpLocks/>
          </p:cNvCxnSpPr>
          <p:nvPr userDrawn="1"/>
        </p:nvCxnSpPr>
        <p:spPr>
          <a:xfrm>
            <a:off x="0" y="87693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8635FE-6C4D-7B13-8331-EE2D46F52A4A}"/>
              </a:ext>
            </a:extLst>
          </p:cNvPr>
          <p:cNvSpPr txBox="1"/>
          <p:nvPr userDrawn="1"/>
        </p:nvSpPr>
        <p:spPr>
          <a:xfrm>
            <a:off x="8247355" y="136525"/>
            <a:ext cx="3873525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TRƯỜNG KỸ THUẬT VÀ CÔNG NGHỆ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279222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D46E-89F6-D30F-225E-EEF4CD5E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6F67-03F6-06BF-3879-F0C41DDDC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3CC92-22BA-A104-7389-01052063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B008-90B5-A0AF-B1E6-D9D3AF8E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EB321-0A84-0A06-B8C2-91A6C437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  <p:pic>
        <p:nvPicPr>
          <p:cNvPr id="9" name="Picture 2" descr="PAM Air và Đại học Trà Vinh - PAM Air">
            <a:extLst>
              <a:ext uri="{FF2B5EF4-FFF2-40B4-BE49-F238E27FC236}">
                <a16:creationId xmlns:a16="http://schemas.microsoft.com/office/drawing/2014/main" id="{B4509FAE-EBCC-024A-81AB-C956686CCE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102"/>
            <a:ext cx="924560" cy="92456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54A36-0687-189D-7E94-F5752D98F974}"/>
              </a:ext>
            </a:extLst>
          </p:cNvPr>
          <p:cNvCxnSpPr>
            <a:cxnSpLocks/>
          </p:cNvCxnSpPr>
          <p:nvPr userDrawn="1"/>
        </p:nvCxnSpPr>
        <p:spPr>
          <a:xfrm>
            <a:off x="0" y="87693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B4FB5D-87F5-F70D-6808-9E17936C57BE}"/>
              </a:ext>
            </a:extLst>
          </p:cNvPr>
          <p:cNvSpPr txBox="1"/>
          <p:nvPr userDrawn="1"/>
        </p:nvSpPr>
        <p:spPr>
          <a:xfrm>
            <a:off x="8247355" y="136525"/>
            <a:ext cx="3873525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TRƯỜNG KỸ THUẬT VÀ CÔNG NGHỆ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effectLst/>
              </a:rPr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326370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8ED8-F94B-1AAD-2E92-77DEA872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F4539-2EAA-04FA-B8C9-1DD705908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1D49-169B-28BF-F66F-33D1C806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BEEB1-987F-9F27-7B2A-C2B61BED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FF0B2-863D-E0A4-E0EA-FDB90BEB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4020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CBFC-BD35-CEDB-94E9-4C2DBC8F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49102-E076-3279-43B0-DE0727FDD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FABC2-C4F9-093E-3F3C-06F381F94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88EC-76A3-0738-7DFD-83720701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6D2AC-F931-2AA9-AD69-D2E24FD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3E859-0CDC-E20A-D51C-862578DD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1017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1805-E031-71B6-8385-D1E16A56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1784E-D965-3E59-4486-FDD8AF8DA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D17EB-1A6E-5B0D-ABF6-EC5EF44AC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E098F-83C1-5CE7-077A-359A1D0D0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32C20-34AD-3243-860B-0CF77C5D2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9EC1B-CDDC-E57F-7555-7D7C3257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09583-21F6-EE63-7139-2B1847F6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5C694-BF22-3E3F-BE00-4A9505CC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0603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1E64-0D63-9549-9928-322E118E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ACAB6-6EAC-630F-16EA-4743E128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8BD04-43AB-F029-158D-378020F2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BBAA4-2546-504D-5472-263D3A2A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1239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F1D40-36A3-B288-E3B2-1953DD98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09AE9-4BFA-5322-B1F7-12B7D904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866E-71B7-73CA-5615-A3CD967B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3219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EF9D-3777-E053-2239-1DEE6184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3EB2-922C-FB19-3C94-12217BC89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6F927-5A0F-51BB-CAA7-A382586AB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2B789-DF25-202D-E9D3-F51963E3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6D97E-9FD2-0A7D-9110-9BF15449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B25C5-130E-1DCE-8974-E97EFAA9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2531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60FF-19A7-D198-81B0-F2D6AD09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B2384-1A6C-5341-EBBB-32025C858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8435-EED9-4DC1-4B20-4DAC2A761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9866-CB92-0FB7-C3F5-F01C3E32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1E627-71DB-E24C-52E1-6E67B753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11B71-F0C6-FB16-AB6D-428C124C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978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C0FA-E43E-4157-1412-3ED0974E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E9274-280F-F6D5-58E1-8369AD7F1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05CDC-5DFD-C776-F46C-90C2948C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E3A50-51F0-115C-03F4-4D0F6B9B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6C0FB-9676-369D-9834-19356691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2743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2C856-ED97-8A1E-3B95-CE11F4C5F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1206B-D5C9-18A2-970B-EA449DAFA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6DD89-525B-2E32-0921-75D6E912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2AB94-A691-DC56-4D69-802ED851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21879-2F8F-3B49-0D4E-14109EB2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276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>
            <a:extLst>
              <a:ext uri="{FF2B5EF4-FFF2-40B4-BE49-F238E27FC236}">
                <a16:creationId xmlns:a16="http://schemas.microsoft.com/office/drawing/2014/main" id="{D3E47E8B-B312-7EA5-25D7-797F4A8FCB89}"/>
              </a:ext>
            </a:extLst>
          </p:cNvPr>
          <p:cNvPicPr preferRelativeResize="0"/>
          <p:nvPr userDrawn="1"/>
        </p:nvPicPr>
        <p:blipFill rotWithShape="1">
          <a:blip r:embed="rId13">
            <a:alphaModFix amt="60000"/>
          </a:blip>
          <a:srcRect t="8467" b="-9"/>
          <a:stretch/>
        </p:blipFill>
        <p:spPr>
          <a:xfrm>
            <a:off x="0" y="0"/>
            <a:ext cx="12192000" cy="679141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78D004-5508-E598-EDA9-2FD00A40848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47A31-4A49-F099-49CB-F4E5292A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9982"/>
            <a:ext cx="10515600" cy="859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00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BC3E0-5919-016B-93EE-AC5C69B64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8077"/>
            <a:ext cx="10515600" cy="4218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00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B5752-8EAE-43FC-D680-F6322B2E1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11E99-206A-44E2-8C68-5909D7B6F28B}" type="datetimeFigureOut">
              <a:rPr lang="en-001" smtClean="0"/>
              <a:t>06/29/2026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478C3-86FC-E3EE-DEBF-F40F9CEF2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9F8B-334C-B77E-C364-4E3326426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8180B-BEA9-4221-841D-5448A26875F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08004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86EA-D830-76D6-19C4-E94DF11F0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 wrap="square" lIns="45720" tIns="18288" rIns="45720" bIns="18288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sz="3100" b="1">
                <a:solidFill>
                  <a:srgbClr val="102D54"/>
                </a:solidFill>
                <a:latin typeface="Arial"/>
              </a:rPr>
              <a:t>XÂY DỰNG WEBSITE HỖ TRỢ HỌC TẬP</a:t>
            </a:r>
            <a:endParaRPr lang="en-001" sz="5000" b="1" dirty="0"/>
          </a:p>
          <a:p>
            <a:pPr algn="ctr">
              <a:spcAft>
                <a:spcPts val="400"/>
              </a:spcAft>
            </a:pPr>
            <a:r>
              <a:rPr sz="3100" b="1">
                <a:solidFill>
                  <a:srgbClr val="102D54"/>
                </a:solidFill>
                <a:latin typeface="Arial"/>
              </a:rPr>
              <a:t>VÀ ĐÁNH GIÁ TỰ ĐỘNG KỸ NĂNG</a:t>
            </a:r>
          </a:p>
          <a:p>
            <a:pPr algn="ctr">
              <a:spcAft>
                <a:spcPts val="400"/>
              </a:spcAft>
            </a:pPr>
            <a:r>
              <a:rPr sz="3100" b="1">
                <a:solidFill>
                  <a:srgbClr val="102D54"/>
                </a:solidFill>
                <a:latin typeface="Arial"/>
              </a:rPr>
              <a:t>THIẾT KẾ CƠ SỞ DỮ LIỆU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E6472-A1E4-A78A-DD54-9BA3F2183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796" y="1924615"/>
            <a:ext cx="6966408" cy="621170"/>
          </a:xfrm>
        </p:spPr>
        <p:txBody>
          <a:bodyPr wrap="square" lIns="45720" tIns="18288" rIns="45720" bIns="18288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02D54"/>
                </a:solidFill>
                <a:latin typeface="Arial"/>
              </a:rPr>
              <a:t>ĐỒ ÁN TỐT NGHIỆP</a:t>
            </a:r>
            <a:endParaRPr lang="en-001" sz="35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9067104-1948-E169-E006-CBA00F13E1F9}"/>
              </a:ext>
            </a:extLst>
          </p:cNvPr>
          <p:cNvSpPr txBox="1">
            <a:spLocks/>
          </p:cNvSpPr>
          <p:nvPr/>
        </p:nvSpPr>
        <p:spPr>
          <a:xfrm>
            <a:off x="0" y="5976594"/>
            <a:ext cx="4690872" cy="881405"/>
          </a:xfrm>
          <a:prstGeom prst="rect">
            <a:avLst/>
          </a:prstGeom>
        </p:spPr>
        <p:txBody>
          <a:bodyPr vert="horz" wrap="square" lIns="45720" tIns="18288" rIns="45720" bIns="18288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600" b="1" dirty="0" err="1">
                <a:solidFill>
                  <a:srgbClr val="102D54"/>
                </a:solidFill>
                <a:latin typeface="Arial"/>
              </a:rPr>
              <a:t>Giảng</a:t>
            </a:r>
            <a:r>
              <a:rPr sz="16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D54"/>
                </a:solidFill>
                <a:latin typeface="Arial"/>
              </a:rPr>
              <a:t>viên</a:t>
            </a:r>
            <a:r>
              <a:rPr sz="16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D54"/>
                </a:solidFill>
                <a:latin typeface="Arial"/>
              </a:rPr>
              <a:t>hướng</a:t>
            </a:r>
            <a:r>
              <a:rPr sz="16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D54"/>
                </a:solidFill>
                <a:latin typeface="Arial"/>
              </a:rPr>
              <a:t>dẫn</a:t>
            </a:r>
            <a:r>
              <a:rPr sz="1600" b="1" dirty="0">
                <a:solidFill>
                  <a:srgbClr val="102D54"/>
                </a:solidFill>
                <a:latin typeface="Arial"/>
              </a:rPr>
              <a:t>: TS. Đoàn </a:t>
            </a:r>
            <a:r>
              <a:rPr sz="1600" b="1" dirty="0" err="1">
                <a:solidFill>
                  <a:srgbClr val="102D54"/>
                </a:solidFill>
                <a:latin typeface="Arial"/>
              </a:rPr>
              <a:t>Phước</a:t>
            </a:r>
            <a:r>
              <a:rPr sz="16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D54"/>
                </a:solidFill>
                <a:latin typeface="Arial"/>
              </a:rPr>
              <a:t>Miền</a:t>
            </a:r>
            <a:endParaRPr sz="1600" b="1" dirty="0">
              <a:solidFill>
                <a:srgbClr val="102D54"/>
              </a:solidFill>
              <a:latin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488896-3BC9-7F4C-92F1-BB4DB621C41C}"/>
              </a:ext>
            </a:extLst>
          </p:cNvPr>
          <p:cNvSpPr txBox="1">
            <a:spLocks/>
          </p:cNvSpPr>
          <p:nvPr/>
        </p:nvSpPr>
        <p:spPr>
          <a:xfrm>
            <a:off x="7723695" y="4933384"/>
            <a:ext cx="4468305" cy="1924615"/>
          </a:xfrm>
          <a:prstGeom prst="rect">
            <a:avLst/>
          </a:prstGeom>
        </p:spPr>
        <p:txBody>
          <a:bodyPr vert="horz" wrap="square" lIns="45720" tIns="18288" rIns="45720" bIns="18288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1600" b="1">
                <a:solidFill>
                  <a:srgbClr val="102D54"/>
                </a:solidFill>
                <a:latin typeface="Arial"/>
              </a:rPr>
              <a:t>Sinh viên thực hiện :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02D54"/>
                </a:solidFill>
                <a:latin typeface="Arial"/>
              </a:rPr>
              <a:t>Họ và tên: Phùng Quốc Kiệt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02D54"/>
                </a:solidFill>
                <a:latin typeface="Arial"/>
              </a:rPr>
              <a:t>MSSV: 110122101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02D54"/>
                </a:solidFill>
                <a:latin typeface="Arial"/>
              </a:rPr>
              <a:t>Lớp: DA22TTD</a:t>
            </a:r>
          </a:p>
        </p:txBody>
      </p:sp>
    </p:spTree>
    <p:extLst>
      <p:ext uri="{BB962C8B-B14F-4D97-AF65-F5344CB8AC3E}">
        <p14:creationId xmlns:p14="http://schemas.microsoft.com/office/powerpoint/2010/main" val="258533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304A-E3DC-D1CF-59ED-694395D3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lang="en-GB" sz="3400" b="1" dirty="0">
                <a:solidFill>
                  <a:srgbClr val="102D54"/>
                </a:solidFill>
                <a:latin typeface="Arial"/>
              </a:rPr>
              <a:t>NỘI DUNG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2846-78C8-B55E-AD62-26F9F77D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tIns="18288" rIns="45720" bIns="18288">
            <a:normAutofit fontScale="85000" lnSpcReduction="20000"/>
          </a:bodyPr>
          <a:lstStyle/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>
                <a:solidFill>
                  <a:srgbClr val="102D54"/>
                </a:solidFill>
                <a:latin typeface="Arial"/>
              </a:rPr>
              <a:t>Lý do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chọn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đề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tài</a:t>
            </a:r>
            <a:endParaRPr lang="en-US" dirty="0"/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Mục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tiêu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nghiên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cứu</a:t>
            </a:r>
            <a:endParaRPr sz="2800" b="0" dirty="0">
              <a:solidFill>
                <a:srgbClr val="102D54"/>
              </a:solidFill>
              <a:latin typeface="Arial"/>
            </a:endParaRPr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Cơ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sở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lý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thuyết</a:t>
            </a:r>
            <a:endParaRPr sz="2800" b="0" dirty="0">
              <a:solidFill>
                <a:srgbClr val="102D54"/>
              </a:solidFill>
              <a:latin typeface="Arial"/>
            </a:endParaRPr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Phân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tích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yêu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cầu</a:t>
            </a:r>
            <a:endParaRPr sz="2800" b="0" dirty="0">
              <a:solidFill>
                <a:srgbClr val="102D54"/>
              </a:solidFill>
              <a:latin typeface="Arial"/>
            </a:endParaRPr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dữ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liệu</a:t>
            </a:r>
            <a:endParaRPr sz="2800" b="0" dirty="0">
              <a:solidFill>
                <a:srgbClr val="102D54"/>
              </a:solidFill>
              <a:latin typeface="Arial"/>
            </a:endParaRPr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xử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lý</a:t>
            </a:r>
            <a:endParaRPr sz="2800" b="0" dirty="0">
              <a:solidFill>
                <a:srgbClr val="102D54"/>
              </a:solidFill>
              <a:latin typeface="Arial"/>
            </a:endParaRPr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Kết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quả</a:t>
            </a:r>
            <a:endParaRPr sz="2800" b="0" dirty="0">
              <a:solidFill>
                <a:srgbClr val="102D54"/>
              </a:solidFill>
              <a:latin typeface="Arial"/>
            </a:endParaRPr>
          </a:p>
          <a:p>
            <a:pPr marL="514350" indent="-514350" algn="l">
              <a:spcAft>
                <a:spcPts val="400"/>
              </a:spcAft>
              <a:buFont typeface="+mj-lt"/>
              <a:buAutoNum type="arabicPeriod"/>
            </a:pPr>
            <a:r>
              <a:rPr sz="2800" b="0" dirty="0" err="1">
                <a:solidFill>
                  <a:srgbClr val="102D54"/>
                </a:solidFill>
                <a:latin typeface="Arial"/>
              </a:rPr>
              <a:t>Hướng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phát</a:t>
            </a:r>
            <a:r>
              <a:rPr sz="28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800" b="0" dirty="0" err="1">
                <a:solidFill>
                  <a:srgbClr val="102D54"/>
                </a:solidFill>
                <a:latin typeface="Arial"/>
              </a:rPr>
              <a:t>triển</a:t>
            </a:r>
            <a:endParaRPr sz="2800" b="0" dirty="0">
              <a:solidFill>
                <a:srgbClr val="102D5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6174309"/>
      </p:ext>
    </p:extLst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3367-FEB8-2901-F2D7-15BCAE94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1. Lý do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chọn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đề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tài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E8B3-2BFF-E868-1DB6-574FD8D9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tIns="18288" rIns="45720" bIns="18288"/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Thiết kế cơ sở dữ liệu là kỹ năng nền tảng trong phát triển phần mềm.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Sinh viên thường gặp khó khăn khi chuyển yêu cầu nghiệp vụ sang sơ đồ ERD.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Các công cụ vẽ sơ đồ chủ yếu hỗ trợ biểu diễn, chưa tập trung phản hồi lỗi thiết kế.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AI và RAG có thể hỗ trợ hỏi đáp kiến thức, sinh bài tập và đưa ra gợi ý học tập.</a:t>
            </a:r>
          </a:p>
        </p:txBody>
      </p:sp>
    </p:spTree>
    <p:extLst>
      <p:ext uri="{BB962C8B-B14F-4D97-AF65-F5344CB8AC3E}">
        <p14:creationId xmlns:p14="http://schemas.microsoft.com/office/powerpoint/2010/main" val="369678962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7C1E7-2A29-4473-AD89-CFCDFE64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4B57-5CD2-F7DA-2E3E-BD23F23A6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2.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Mục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tiêu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nghiên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cứu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4CB01-1900-E42D-953E-C9DE490AA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45720" tIns="18288" rIns="45720" bIns="18288"/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Tìm hiểu kiến thức về thiết kế CSDL, ERD, chuẩn hóa dữ liệu và các lỗi thiết kế phổ biến.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Nghiên cứu cách ứng dụng LLM và RAG vào hệ thống hỗ trợ học tập.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Xây dựng website cho phép sinh viên thực hành vẽ ERD, lưu nháp, nộp bài và xem phản hồi.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Xây dựng các chức năng quản lý bài tập, học liệu, bài nộp và kết quả đánh giá.</a:t>
            </a:r>
          </a:p>
        </p:txBody>
      </p:sp>
    </p:spTree>
    <p:extLst>
      <p:ext uri="{BB962C8B-B14F-4D97-AF65-F5344CB8AC3E}">
        <p14:creationId xmlns:p14="http://schemas.microsoft.com/office/powerpoint/2010/main" val="33381243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43C1-966A-15EC-8722-B850AAC0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BCDEC-6513-6183-F34F-007F0553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3.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Cơ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sở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lý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thuyết</a:t>
            </a:r>
            <a:endParaRPr lang="en-00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D065CF-B9B3-2180-504C-B534C570045D}"/>
              </a:ext>
            </a:extLst>
          </p:cNvPr>
          <p:cNvGrpSpPr/>
          <p:nvPr/>
        </p:nvGrpSpPr>
        <p:grpSpPr>
          <a:xfrm>
            <a:off x="1239365" y="2557413"/>
            <a:ext cx="9713268" cy="2997724"/>
            <a:chOff x="1239365" y="2557413"/>
            <a:chExt cx="9713268" cy="299772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A158CB6-05AB-3BFC-E701-23F6F040E92C}"/>
                </a:ext>
              </a:extLst>
            </p:cNvPr>
            <p:cNvSpPr/>
            <p:nvPr/>
          </p:nvSpPr>
          <p:spPr>
            <a:xfrm>
              <a:off x="1239365" y="2557413"/>
              <a:ext cx="2790334" cy="2997724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9319B40-03A9-1829-DEAA-BD6B4E32826D}"/>
                </a:ext>
              </a:extLst>
            </p:cNvPr>
            <p:cNvSpPr/>
            <p:nvPr/>
          </p:nvSpPr>
          <p:spPr>
            <a:xfrm>
              <a:off x="4700832" y="2557413"/>
              <a:ext cx="2790334" cy="2997724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4671368-C39E-7B14-FD94-813B29761743}"/>
                </a:ext>
              </a:extLst>
            </p:cNvPr>
            <p:cNvSpPr/>
            <p:nvPr/>
          </p:nvSpPr>
          <p:spPr>
            <a:xfrm>
              <a:off x="8162299" y="2557413"/>
              <a:ext cx="2790334" cy="2997724"/>
            </a:xfrm>
            <a:prstGeom prst="roundRect">
              <a:avLst/>
            </a:prstGeom>
            <a:solidFill>
              <a:schemeClr val="bg1">
                <a:alpha val="40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4FACA8-2143-CFCA-B74D-5FE88D2A1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1734532" y="2792717"/>
              <a:ext cx="1800000" cy="180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49D25E8-3569-C161-CBEA-208E8D61D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5196000" y="2932522"/>
              <a:ext cx="1800000" cy="180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54AB3F-98D3-4EB3-D668-445401241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57468" y="2932522"/>
              <a:ext cx="1800000" cy="1800000"/>
            </a:xfrm>
            <a:prstGeom prst="rect">
              <a:avLst/>
            </a:prstGeom>
          </p:spPr>
        </p:pic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7E0ED0-A9F8-5D52-9F4D-E8F0CFAC6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532" y="4760633"/>
            <a:ext cx="1800000" cy="599336"/>
          </a:xfrm>
        </p:spPr>
        <p:txBody>
          <a:bodyPr wrap="square" lIns="45720" tIns="18288" rIns="45720" bIns="18288"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2200" b="1">
                <a:solidFill>
                  <a:srgbClr val="102D54"/>
                </a:solidFill>
                <a:latin typeface="Arial"/>
              </a:rPr>
              <a:t>ERD</a:t>
            </a:r>
            <a:endParaRPr lang="vi-V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80C23B-FC11-8D97-6143-264D5FBB28B3}"/>
              </a:ext>
            </a:extLst>
          </p:cNvPr>
          <p:cNvSpPr txBox="1">
            <a:spLocks/>
          </p:cNvSpPr>
          <p:nvPr/>
        </p:nvSpPr>
        <p:spPr>
          <a:xfrm>
            <a:off x="5031319" y="4788954"/>
            <a:ext cx="2129360" cy="599336"/>
          </a:xfrm>
          <a:prstGeom prst="rect">
            <a:avLst/>
          </a:prstGeom>
        </p:spPr>
        <p:txBody>
          <a:bodyPr vert="horz" wrap="square" lIns="45720" tIns="18288" rIns="45720" bIns="18288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2200" b="1">
                <a:solidFill>
                  <a:srgbClr val="102D54"/>
                </a:solidFill>
                <a:latin typeface="Arial"/>
              </a:rPr>
              <a:t>AI / RAG</a:t>
            </a:r>
            <a:endParaRPr lang="vi-V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16425D9-8C7C-835E-0CCD-CE2AD83C6DBE}"/>
              </a:ext>
            </a:extLst>
          </p:cNvPr>
          <p:cNvSpPr txBox="1">
            <a:spLocks/>
          </p:cNvSpPr>
          <p:nvPr/>
        </p:nvSpPr>
        <p:spPr>
          <a:xfrm>
            <a:off x="8657466" y="4788954"/>
            <a:ext cx="1800000" cy="599336"/>
          </a:xfrm>
          <a:prstGeom prst="rect">
            <a:avLst/>
          </a:prstGeom>
        </p:spPr>
        <p:txBody>
          <a:bodyPr vert="horz" wrap="square" lIns="45720" tIns="18288" rIns="45720" bIns="18288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2200" b="1">
                <a:solidFill>
                  <a:srgbClr val="102D54"/>
                </a:solidFill>
                <a:latin typeface="Arial"/>
              </a:rPr>
              <a:t>Full-stack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901613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CBF3-4B46-F264-2928-AB9A8321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F024-87E1-2715-AD3F-ADC210DB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4.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Phân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tích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yêu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cầu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32CBF-5A43-2DE0-F7A9-FF9953790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0208" cy="4351338"/>
          </a:xfrm>
        </p:spPr>
        <p:txBody>
          <a:bodyPr wrap="square" lIns="45720" tIns="18288" rIns="45720" bIns="18288">
            <a:norm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02D54"/>
                </a:solidFill>
                <a:latin typeface="Arial"/>
              </a:rPr>
              <a:t>Sinh viên: tạo hoặc chọn bài tập, thực hành vẽ ERD, lưu nháp, nộp bài, xem phản hồi và hỏi đáp chatbot.</a:t>
            </a:r>
          </a:p>
          <a:p>
            <a:pPr algn="l">
              <a:spcAft>
                <a:spcPts val="400"/>
              </a:spcAft>
            </a:pPr>
            <a:r>
              <a:rPr sz="2300" b="0">
                <a:solidFill>
                  <a:srgbClr val="102D54"/>
                </a:solidFill>
                <a:latin typeface="Arial"/>
              </a:rPr>
              <a:t>Giảng viên: quản lý bài tập, học liệu, lời giải tham chiếu và theo dõi kết quả thực hành của sinh viên.</a:t>
            </a:r>
          </a:p>
          <a:p>
            <a:pPr algn="l">
              <a:spcAft>
                <a:spcPts val="400"/>
              </a:spcAft>
            </a:pPr>
            <a:r>
              <a:rPr sz="2300" b="0">
                <a:solidFill>
                  <a:srgbClr val="102D54"/>
                </a:solidFill>
                <a:latin typeface="Arial"/>
              </a:rPr>
              <a:t>Quản trị viên: quản lý người dùng, bài tập, học liệu, bài nộp, kỹ năng và thống kê tổng quan.</a:t>
            </a:r>
          </a:p>
        </p:txBody>
      </p:sp>
    </p:spTree>
    <p:extLst>
      <p:ext uri="{BB962C8B-B14F-4D97-AF65-F5344CB8AC3E}">
        <p14:creationId xmlns:p14="http://schemas.microsoft.com/office/powerpoint/2010/main" val="169964866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D139-BE6F-B27E-364E-B3EA9F45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B609-CC26-C881-1967-EAF0740A4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5.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dữ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liệu</a:t>
            </a:r>
            <a:endParaRPr lang="en-00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A56524-A671-D669-40C2-8FE750A0D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000" y="1889974"/>
            <a:ext cx="576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189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9F8B-4EAA-3842-0A7C-BA3F13BC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37EF-9F19-3445-9AA5-D41741BA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6.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xử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lý</a:t>
            </a:r>
            <a:endParaRPr lang="en-00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0DA69E-B22B-A357-5264-2C18004EC4F6}"/>
              </a:ext>
            </a:extLst>
          </p:cNvPr>
          <p:cNvSpPr txBox="1">
            <a:spLocks/>
          </p:cNvSpPr>
          <p:nvPr/>
        </p:nvSpPr>
        <p:spPr>
          <a:xfrm>
            <a:off x="838199" y="1781666"/>
            <a:ext cx="10728489" cy="725863"/>
          </a:xfrm>
          <a:prstGeom prst="rect">
            <a:avLst/>
          </a:prstGeom>
        </p:spPr>
        <p:txBody>
          <a:bodyPr vert="horz" wrap="square" lIns="45720" tIns="18288" rIns="45720" bIns="18288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2200" b="0">
                <a:solidFill>
                  <a:srgbClr val="102D54"/>
                </a:solidFill>
                <a:latin typeface="Arial"/>
              </a:rPr>
              <a:t>Sơ đồ phân cấp chức năng:</a:t>
            </a:r>
            <a:endParaRPr lang="en-001" sz="26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4D5A85-B2C7-F774-87D6-4B2CF88EA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361" y="1957388"/>
            <a:ext cx="5570942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9953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B4C1-4394-0ECC-63BF-905B91E0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3D42-B49A-75C5-B985-D8EFF2FE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6.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xử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lý</a:t>
            </a:r>
            <a:endParaRPr lang="en-00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C34668-FFBD-D8FF-1F08-8D2D2998E7A2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wrap="square" lIns="45720" tIns="18288" rIns="45720" bIns="18288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2200" b="0">
                <a:solidFill>
                  <a:srgbClr val="102D54"/>
                </a:solidFill>
                <a:latin typeface="Arial"/>
              </a:rPr>
              <a:t>Sơ đồ Use Case tổng quát:</a:t>
            </a:r>
            <a:endParaRPr lang="en-001" sz="26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8DAA8E-35D8-0D6E-10FF-C435E4773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711" y="1350022"/>
            <a:ext cx="3600000" cy="51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076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1482-583D-F3CA-78D3-29DBE13B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07616-BD9E-DB44-7D3E-0DC6674669FE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wrap="square" lIns="45720" tIns="18288" rIns="45720" bIns="18288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2200" b="0">
                <a:solidFill>
                  <a:srgbClr val="102D54"/>
                </a:solidFill>
                <a:latin typeface="Arial"/>
              </a:rPr>
              <a:t>Sơ đồ Use Case quản trị viên:</a:t>
            </a:r>
            <a:endParaRPr lang="en-001" sz="2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5726E0-EEBD-90A1-F214-3BADC80F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9982"/>
            <a:ext cx="10515600" cy="859992"/>
          </a:xfrm>
        </p:spPr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6.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xử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lý</a:t>
            </a:r>
            <a:endParaRPr lang="en-00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D63808-BEA0-3B88-2C83-D8F09F349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578" y="1889974"/>
            <a:ext cx="4073019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902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B4A5-8F81-A064-E0DF-AE1FE82A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0FDE-B07F-AF27-4DA4-AD05B1F4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6.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xử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lý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DBFC1-A5CE-9F07-526F-9568326CA8F5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wrap="square" lIns="45720" tIns="18288" rIns="45720" bIns="18288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2200" b="0">
                <a:solidFill>
                  <a:srgbClr val="102D54"/>
                </a:solidFill>
                <a:latin typeface="Arial"/>
              </a:rPr>
              <a:t>Sơ đồ Use Case giảng viên:</a:t>
            </a:r>
            <a:endParaRPr lang="en-001" sz="26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9047CE2-7BEE-A49D-C7A8-EBA6D3A5C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231" y="1917406"/>
            <a:ext cx="4594818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386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A117-A506-3234-9AA8-570DFDB6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BC4A-2900-5F84-065B-2D4D776F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6.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Thiết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xử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lý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32BD-C4A1-A9FC-FA05-9D452FC70C21}"/>
              </a:ext>
            </a:extLst>
          </p:cNvPr>
          <p:cNvSpPr txBox="1">
            <a:spLocks/>
          </p:cNvSpPr>
          <p:nvPr/>
        </p:nvSpPr>
        <p:spPr>
          <a:xfrm>
            <a:off x="932467" y="1846960"/>
            <a:ext cx="10728489" cy="703720"/>
          </a:xfrm>
          <a:prstGeom prst="rect">
            <a:avLst/>
          </a:prstGeom>
        </p:spPr>
        <p:txBody>
          <a:bodyPr vert="horz" wrap="square" lIns="45720" tIns="18288" rIns="45720" bIns="18288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400"/>
              </a:spcAft>
            </a:pPr>
            <a:r>
              <a:rPr sz="2200" b="0">
                <a:solidFill>
                  <a:srgbClr val="102D54"/>
                </a:solidFill>
                <a:latin typeface="Arial"/>
              </a:rPr>
              <a:t>Sơ đồ Use Case sinh viên:</a:t>
            </a:r>
            <a:endParaRPr lang="en-001" sz="26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54B4D6F-2D81-C8B3-11CE-FB021B01D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266" y="1984820"/>
            <a:ext cx="5949509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7210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CEF7-C232-226B-45AE-F1824A6F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7966-00D5-9F2F-9917-6DAC135E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7.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Kết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quả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3545-2FDA-BDA7-086F-D0790AD6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9635" cy="4351338"/>
          </a:xfrm>
        </p:spPr>
        <p:txBody>
          <a:bodyPr wrap="square" lIns="45720" tIns="18288" rIns="45720" bIns="18288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200" b="0" dirty="0">
                <a:solidFill>
                  <a:srgbClr val="102D54"/>
                </a:solidFill>
                <a:latin typeface="Arial"/>
              </a:rPr>
              <a:t>Bao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gồm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:</a:t>
            </a:r>
          </a:p>
          <a:p>
            <a:pPr algn="l">
              <a:spcAft>
                <a:spcPts val="400"/>
              </a:spcAft>
            </a:pPr>
            <a:r>
              <a:rPr sz="2200" b="0" dirty="0">
                <a:solidFill>
                  <a:srgbClr val="102D54"/>
                </a:solidFill>
                <a:latin typeface="Arial"/>
              </a:rPr>
              <a:t>Tài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liệu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: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hoàn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thiện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tài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liệu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API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trên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Swagger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và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mô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tả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các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nhóm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endpoint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chính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2200" b="0" dirty="0">
                <a:solidFill>
                  <a:srgbClr val="102D54"/>
                </a:solidFill>
                <a:latin typeface="Arial"/>
              </a:rPr>
              <a:t>Giao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diện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: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xây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dựng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các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trang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xác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thực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quản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trị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viên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giảng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viên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và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sinh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viên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2200" b="0" dirty="0" err="1">
                <a:solidFill>
                  <a:srgbClr val="102D54"/>
                </a:solidFill>
                <a:latin typeface="Arial"/>
              </a:rPr>
              <a:t>Thực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hành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: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hỗ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trợ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vẽ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ERD,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lưu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nháp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nộp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bài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xem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phản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hồi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và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lịch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sử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bài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nộp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2200" b="0" dirty="0">
                <a:solidFill>
                  <a:srgbClr val="102D54"/>
                </a:solidFill>
                <a:latin typeface="Arial"/>
              </a:rPr>
              <a:t>AI/RAG: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hỗ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trợ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hỏi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đáp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kiến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thức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sinh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bài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tập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và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đánh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giá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bài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102D54"/>
                </a:solidFill>
                <a:latin typeface="Arial"/>
              </a:rPr>
              <a:t>làm</a:t>
            </a:r>
            <a:r>
              <a:rPr sz="2200" b="0" dirty="0">
                <a:solidFill>
                  <a:srgbClr val="102D54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868463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BC84-BBFC-400B-9508-4795BCBC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1CED-8006-91C4-AB36-619038B9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pPr>
              <a:spcAft>
                <a:spcPts val="400"/>
              </a:spcAft>
            </a:pPr>
            <a:r>
              <a:rPr sz="3400" b="1" dirty="0">
                <a:solidFill>
                  <a:srgbClr val="102D54"/>
                </a:solidFill>
                <a:latin typeface="Arial"/>
              </a:rPr>
              <a:t>8.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Hướng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phát</a:t>
            </a:r>
            <a:r>
              <a:rPr sz="3400" b="1" dirty="0">
                <a:solidFill>
                  <a:srgbClr val="102D54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102D54"/>
                </a:solidFill>
                <a:latin typeface="Arial"/>
              </a:rPr>
              <a:t>triển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DC7D4-F6F4-6493-75F6-76B305F3D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8489" cy="4351338"/>
          </a:xfrm>
        </p:spPr>
        <p:txBody>
          <a:bodyPr wrap="square" lIns="45720" tIns="18288" rIns="45720" bIns="18288">
            <a:norm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Hoàn thiện quy trình kiểm duyệt bài tập do AI tạo ra.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Mở rộng kho học liệu và cải thiện chất lượng đánh giá tự động.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Bổ sung chức năng nhập sơ đồ từ SQL hoặc hình ảnh.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02D54"/>
                </a:solidFill>
                <a:latin typeface="Arial"/>
              </a:rPr>
              <a:t>Tối ưu giao diện vẽ ERD, tăng cường bảo mật, ghi log và giám sát hệ thống.</a:t>
            </a:r>
          </a:p>
        </p:txBody>
      </p:sp>
    </p:spTree>
    <p:extLst>
      <p:ext uri="{BB962C8B-B14F-4D97-AF65-F5344CB8AC3E}">
        <p14:creationId xmlns:p14="http://schemas.microsoft.com/office/powerpoint/2010/main" val="254102945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77DA-BFC1-72EF-7979-F9969E5B5DA3}"/>
              </a:ext>
            </a:extLst>
          </p:cNvPr>
          <p:cNvSpPr txBox="1">
            <a:spLocks/>
          </p:cNvSpPr>
          <p:nvPr/>
        </p:nvSpPr>
        <p:spPr>
          <a:xfrm>
            <a:off x="0" y="2235200"/>
            <a:ext cx="12192000" cy="2387600"/>
          </a:xfrm>
          <a:prstGeom prst="rect">
            <a:avLst/>
          </a:prstGeom>
        </p:spPr>
        <p:txBody>
          <a:bodyPr wrap="square" lIns="45720" tIns="18288" rIns="45720" bIns="1828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400"/>
              </a:spcAft>
            </a:pPr>
            <a:r>
              <a:rPr sz="5400" b="1">
                <a:solidFill>
                  <a:srgbClr val="102D54"/>
                </a:solidFill>
                <a:latin typeface="Arial"/>
              </a:rPr>
              <a:t>THANK YOU</a:t>
            </a:r>
            <a:endParaRPr lang="en-001" sz="7000" dirty="0"/>
          </a:p>
        </p:txBody>
      </p:sp>
    </p:spTree>
    <p:extLst>
      <p:ext uri="{BB962C8B-B14F-4D97-AF65-F5344CB8AC3E}">
        <p14:creationId xmlns:p14="http://schemas.microsoft.com/office/powerpoint/2010/main" val="170163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aoCaoNopLai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583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Tahoma</vt:lpstr>
      <vt:lpstr>Office Theme</vt:lpstr>
      <vt:lpstr>XÂY DỰNG WEBSITE HỖ TRỢ HỌC TẬP VÀ ĐÁNH GIÁ TỰ ĐỘNG KỸ NĂNG THIẾT KẾ CƠ SỞ DỮ LIỆU</vt:lpstr>
      <vt:lpstr>NỘI DUNG</vt:lpstr>
      <vt:lpstr>1. Lý do chọn đề tài</vt:lpstr>
      <vt:lpstr>2. Mục tiêu nghiên cứu</vt:lpstr>
      <vt:lpstr>3. Cơ sở lý thuyết</vt:lpstr>
      <vt:lpstr>4. Phân tích yêu cầu</vt:lpstr>
      <vt:lpstr>5. Thiết kế dữ liệu</vt:lpstr>
      <vt:lpstr>6. Thiết kế xử lý</vt:lpstr>
      <vt:lpstr>6. Thiết kế xử lý</vt:lpstr>
      <vt:lpstr>6. Thiết kế xử lý</vt:lpstr>
      <vt:lpstr>6. Thiết kế xử lý</vt:lpstr>
      <vt:lpstr>6. Thiết kế xử lý</vt:lpstr>
      <vt:lpstr>7. Kết quả</vt:lpstr>
      <vt:lpstr>8. Hướng phát triển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Viet</dc:creator>
  <cp:lastModifiedBy>Quoc Viet</cp:lastModifiedBy>
  <cp:revision>53</cp:revision>
  <dcterms:created xsi:type="dcterms:W3CDTF">2026-01-05T06:45:21Z</dcterms:created>
  <dcterms:modified xsi:type="dcterms:W3CDTF">2026-06-29T10:32:01Z</dcterms:modified>
</cp:coreProperties>
</file>